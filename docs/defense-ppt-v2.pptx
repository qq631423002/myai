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思考中出现英文散文的比例 (%)</c:v>
                </c:pt>
              </c:strCache>
            </c:strRef>
          </c:tx>
          <c:dPt>
            <c:idx val="0"/>
            <c:spPr>
              <a:solidFill>
                <a:srgbClr val="4D6BFE"/>
              </a:solidFill>
            </c:spPr>
          </c:dPt>
          <c:dPt>
            <c:idx val="1"/>
            <c:spPr>
              <a:solidFill>
                <a:srgbClr val="4D6BFE"/>
              </a:solidFill>
            </c:spPr>
          </c:dPt>
          <c:cat>
            <c:strRef>
              <c:f>Sheet1!$A$2:$A$3</c:f>
              <c:strCache>
                <c:ptCount val="2"/>
                <c:pt idx="0">
                  <c:v>改造前（无系统提示）</c:v>
                </c:pt>
                <c:pt idx="1">
                  <c:v>改造后（含系统提示）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中文问题 Top1 命中数（满分 5）</c:v>
                </c:pt>
              </c:strCache>
            </c:strRef>
          </c:tx>
          <c:dPt>
            <c:idx val="0"/>
            <c:spPr>
              <a:solidFill>
                <a:srgbClr val="4D6BFE"/>
              </a:solidFill>
            </c:spPr>
          </c:dPt>
          <c:dPt>
            <c:idx val="1"/>
            <c:spPr>
              <a:solidFill>
                <a:srgbClr val="4D6BFE"/>
              </a:solidFill>
            </c:spPr>
          </c:dPt>
          <c:cat>
            <c:strRef>
              <c:f>Sheet1!$A$2:$A$3</c:f>
              <c:strCache>
                <c:ptCount val="2"/>
                <c:pt idx="0">
                  <c:v>英文模型
all-MiniLM</c:v>
                </c:pt>
                <c:pt idx="1">
                  <c:v>中文模型
bge-small-zh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F3A"/>
              </a:gs>
              <a:gs pos="100000">
                <a:srgbClr val="1E385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377440"/>
            <a:ext cx="5852160" cy="5852160"/>
          </a:xfrm>
          <a:prstGeom prst="ellipse">
            <a:avLst/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011680"/>
            <a:ext cx="4754880" cy="4754880"/>
          </a:xfrm>
          <a:prstGeom prst="ellipse">
            <a:avLst/>
          </a:prstGeom>
          <a:solidFill>
            <a:srgbClr val="1E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480560"/>
            <a:ext cx="2926080" cy="2926080"/>
          </a:xfrm>
          <a:prstGeom prst="ellipse">
            <a:avLst/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304288"/>
            <a:ext cx="12191695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07008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智能聊天助手的设计与实现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FD3EA"/>
                </a:solidFill>
                <a:latin typeface="微软雅黑"/>
                <a:ea typeface="微软雅黑"/>
                <a:cs typeface="微软雅黑"/>
              </a:rPr>
              <a:t>基于 FastAPI + Vue 3 + DeepSeek 的前后端分离实践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31012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5879" y="331012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0631" y="331012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5383" y="331012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DeepSeek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00135" y="331012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SSE 流式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答辩人：傅才萁</a:t>
            </a:r>
          </a:p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学号：__________          班级：__________</a:t>
            </a:r>
          </a:p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指导教师：__________</a:t>
            </a:r>
          </a:p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D8E3F5"/>
                </a:solidFill>
                <a:latin typeface="微软雅黑"/>
                <a:ea typeface="微软雅黑"/>
                <a:cs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54864" cy="56692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81912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8F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1600200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项目概述与技术选型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350008"/>
            <a:ext cx="54864" cy="56692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8F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2350008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系统架构与数据库设计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99815"/>
            <a:ext cx="54864" cy="56692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81527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8F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1" y="3099815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核心功能实现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849624"/>
            <a:ext cx="54864" cy="566928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31336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6F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1" y="3849624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关键技术难点与解决过程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599431"/>
            <a:ext cx="54864" cy="56692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81144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8F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1" y="4599431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测试与验证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349240"/>
            <a:ext cx="54864" cy="56692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330952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8F0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1" y="5349240"/>
            <a:ext cx="8686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工程化实践与未来展望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一、项目概述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10765231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项目定位：从零构建的前后端分离 AI 应用，覆盖「用户体系 + 流式对话 + 真实数据服务」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核心特色：AI 不止聊天——能查实时天气、规划驾车路线、换算跨时区时间，并内置推理游戏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技术目标：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掌握前后端分离架构与 SSE 流式通信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理解并实践大模型 Function Calling（函数调用）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完成从数据库设计、接口开发到界面实现的完整链路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160520"/>
            <a:ext cx="1992111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160520"/>
            <a:ext cx="64008" cy="169164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88536"/>
            <a:ext cx="171779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2183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76672"/>
            <a:ext cx="1772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行后端代码（Python）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6511" y="4160520"/>
            <a:ext cx="1992111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6511" y="4160520"/>
            <a:ext cx="64008" cy="169164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5967" y="4288536"/>
            <a:ext cx="171779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4679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6239" y="5376672"/>
            <a:ext cx="1772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行前端代码（Vue/TS）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791" y="4160520"/>
            <a:ext cx="1992111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9791" y="4160520"/>
            <a:ext cx="64008" cy="169164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9247" y="4288536"/>
            <a:ext cx="171779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9519" y="5376672"/>
            <a:ext cx="1772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个 REST / SSE 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71" y="4160520"/>
            <a:ext cx="1992111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3071" y="4160520"/>
            <a:ext cx="64008" cy="169164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2527" y="4288536"/>
            <a:ext cx="171779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2799" y="5376672"/>
            <a:ext cx="1772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张数据表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86351" y="4160520"/>
            <a:ext cx="1992111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86351" y="4160520"/>
            <a:ext cx="64008" cy="169164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5807" y="4288536"/>
            <a:ext cx="171779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6079" y="5376672"/>
            <a:ext cx="1772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个 AI 可调用工具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二、技术选型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554480"/>
          <a:ext cx="10765229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7076"/>
                <a:gridCol w="4014153"/>
                <a:gridCol w="4744000"/>
              </a:tblGrid>
              <a:tr h="56007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选型理由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前端框架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Vue 3 + Vite 8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组合式 API，构建快，动态 import 按需加载页面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UI 与渲染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Element Plus + markstream-vue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组件库 + 流式 Markdown 增量渲染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地图可视化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Leaflet + 高德瓦片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OSM / Carto 国内不可达，高德可达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后端框架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FastAPI（原生异步）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SSE 流式响应支持好，接口自文档化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数据持久化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SQLAlchemy 2.0 + MySQL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关系型建模用户 / 会话 / 消息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能力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 V4.1 Flash（Responses API）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支持流式输出、思考过程与工具调用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语音输入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浏览器 Web Speech API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免服务端部署、免下载模型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三、系统架构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463040"/>
            <a:ext cx="10765231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1076523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浏览器  ·  Vue 3 SPA  ·  聊天页 / 天气页 / 路线页 / 海龟汤页  ·  顶部可折叠导航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31255" y="2377440"/>
            <a:ext cx="329184" cy="310896"/>
          </a:xfrm>
          <a:prstGeom prst="downArrow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94560" y="2788920"/>
            <a:ext cx="7818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6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852928"/>
            <a:ext cx="7818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10128"/>
            <a:ext cx="7543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routers：auth 认证 · chat 会话与流式对话 · features 天气路线 · soup 游戏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tools：天气 / 路线 / 时区（Function Calling 工具注册表）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DeepSeek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6634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66344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Open-Meteo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气象数据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6634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66344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OSRM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路径规划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46634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66344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高德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地图瓦片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760720"/>
            <a:ext cx="10765231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760720"/>
            <a:ext cx="10765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数据层：MySQL 5.5（utf8mb4，支持 emoji）  ·  本地文件：头像上传 / 向量库（RAG 预研）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四、数据库设计（4 张表）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554480"/>
          <a:ext cx="1076522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9538"/>
                <a:gridCol w="6021230"/>
                <a:gridCol w="2554461"/>
              </a:tblGrid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表名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关键字段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users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username(唯一) · password(bcrypt 加盐哈希) · display_name · avatar · created_at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用户账号与个人资料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conversations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user_id(外键) · title · created_at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会话（支持改名 / 删除级联）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messages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conversation_id(外键) · role · content · created_at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消息正文（user / assistant）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generated_soups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 · title · surface · answer · difficulty · tags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生成游戏题（汤底仅存后端）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983480"/>
            <a:ext cx="1076523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安全设计：密码 bcrypt 加盐哈希；汤底字段只在服务端使用，绝不随接口返回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兼容设计：启动时自动为旧表补新字段（ALTER TABLE ADD COLUMN），老库可直接升级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核心功能（1）流式对话与思考过程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76523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自定义 SSE 协议，把一次回复拆成多种类型的帧：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[CONV] 会话 ID   [THINK] 思考过程   [ANSWER] 正文   [TOOL] 工具进度   [DONE] 结束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思考过程与回答分流显示：前端按帧类型实时切换，用户能看到 AI「怎么想的」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多轮工具调用：最多 3 轮，每轮重新下发帧标记，避免内容错位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会话管理：新建、改名、删除（级联删除消息）、历史回看，全部持久化到 MySQL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游客模式：未登录也能对话，记录只存浏览器 sessionStorage，不落库，保护隐私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核心功能（2）Function Calling 工具系统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463040"/>
            <a:ext cx="10765231" cy="658368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1076523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设计亮点：工具注册表模式 —— 每个工具只需实现三样东西，加新工具只改一行注册表，前端零改动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331720"/>
          <a:ext cx="1076523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2000"/>
                <a:gridCol w="2736923"/>
                <a:gridCol w="5656307"/>
              </a:tblGrid>
              <a:tr h="52578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数据源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get_weather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Open-Meteo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当前天气 + 未来 7 天预报（中文天气描述）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get_route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OSRM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驾车路线、距离、耗时、转向指引、轨迹坐标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get_time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zoneinfo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45+ 城市时区换算，自动处理夏令时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709160"/>
            <a:ext cx="1076523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模型自主决定何时调用工具，后端执行后把真实数据回传，模型据此作答——杜绝编造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工具执行失败也返回结构化 JSON（而非抛异常），模型能理解原因并转述给用户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核心功能（3）可视化页面与游戏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1076523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天气页：城市搜索 + 当前实况 + 多日预报，图标化直观呈现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路线页：Leaflet + 高德瓦片；WGS-84 → GCJ-02 坐标纠偏；起终点标记 + 转向指引列表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海龟汤游戏：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内置 10 道经典题 + 支持 AI 现场出题（生成后入库，最多保留 200 题）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主持人只回答「是 / 不是 / 无关」，通过多轮追问推理真相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3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安全设计：汤底仅存服务端，连 AI 思考过程都不转发给前端，防止剧透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语音输入：Web Speech API 实时转文字，配音量波形提示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停止生成：发送按钮在生成中变为停止按钮，中断后已生成内容仍然保留入库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开发历程（6 个阶段）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554480"/>
          <a:ext cx="10765229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9538"/>
                <a:gridCol w="6021230"/>
                <a:gridCol w="2554461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工作内容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产出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基础框架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按课程笔记复刻前后端项目，接入 DeepSeek 接口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可运行的聊天 Demo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异步与流式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SDK 换成 AsyncOpenAI，改用 SSE 逐字输出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打字机效果 + 思考过程展示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用户体系与界面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bcrypt 注册登录、头像上传、Markdown 渲染、会话改名删除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完整账号系统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架构重构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拆分为 frontend / backend 目录，SQLite 迁移到 MySQL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前后端分离架构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能力扩展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Function Calling 三工具、天气/路线页、海龟汤游戏、语音输入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从聊天工具升级为应用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质量攻坚与工程化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思考过程中文化、地名纠错、RAG 预研、Git 版本控制与协作规范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可靠性提升 + 可协作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难点一：AI 思考过程总是输出英文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765231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现象：用中文提问，AI 的「思考过程」却常常是英文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定位：聊天接口没有传系统提示（instructions），模型无语言约束；英文推理语料占比更高，于是默认用英文思考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解决：新增系统提示，明确要求「正式回答和思考过程都用简体中文」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05840" y="3794760"/>
          <a:ext cx="45720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89320" y="379476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93192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改造前：9 次调用 7 次英文（78%）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改造后：9 次调用 0 次英文（0%）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端到端复验 6 题（含 2 个英文提问）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  思考全部为中文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附带收益：同时约束模型依据工具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  真实数据作答，减少编造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难点二：搜索「湘潭」，天气却显示安徽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765231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现象：查询「湘潭」天气，返回的是安徽省的一个同名小村庄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排查（抓取接口原始返回）：库中湖南湘潭市登记名是「湘潭市」，搜「湘潭」只返回安徽、云南两个同名村级地点；原代码直接取第一条，必然拿错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解决：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① 一次取 10 条候选，按「名字 + 行政级别 + 人口」自行打分，不盲信第一条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② 自动补「市」再搜；自动剥离省份前缀（湖南湘潭 → 湘潭）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1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③ 国外城市别名表（东京→東京、伦敦→倫敦）；只保留居民点，过滤岛屿山峰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349240"/>
            <a:ext cx="10765231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349240"/>
            <a:ext cx="1030803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验证：52 个地名用例 + 40 条别名全部通过；顺带修正长沙、吉林、大理等同类错误。路线端到端：湘潭 → 长沙 = 48.6 公里 / 40 分钟（真实距离）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难点三：点击「停止生成」，已生成内容丢失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7652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现象：生成中途点停止，这段对话没有存库，刷新就没了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定位：客户端断开触发 asyncio.CancelledError；此时异步框架已进入「取消状态」，在 except 里再 await 任何操作都会立刻再次抛错，保存代码根本没执行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5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解决：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① 改用同步数据库会话落库（不 await，绕开取消状态）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② 在异常分支保存「已生成的那部分」，而不是丢弃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       — </a:t>
            </a: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③ 抽出统一保存函数，正常结束与中断两条路径共用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349240"/>
            <a:ext cx="10765231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349240"/>
            <a:ext cx="1030803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验证：生成约 60 字后中断，查库确认已保存 166 个字符 —— 中断不再丢内容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难点四：中文 RAG 方案可行性验证（预研）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31673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7652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先验证接口：DeepSeek 不提供向量化接口（实测 /embeddings 全部 404）→ 向量必须本地计算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再验证来源：HuggingFace 不可达，改用国内镜像 hf-mirror 获取中文向量模型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发现并绕开：Chroma 默认模型下载实测在 90% 处超时；改为手动下载 + sha256 校验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3154680"/>
          <a:ext cx="45720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806440" y="3154680"/>
            <a:ext cx="5669280" cy="30175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291840"/>
            <a:ext cx="5303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同一知识库、5 个中文问题：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英文模型：命中 4/5，相似度 0.30~0.96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   （分散、没把握）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中文模型：命中 5/5，相似度 0.24~0.39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   （集中、判定明确）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• 中文切块必须替换分隔符：默认按英文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   设计，会把句子切在词语中间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测试与验证（全部为实测数据）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554480"/>
          <a:ext cx="1076523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1846"/>
                <a:gridCol w="4196615"/>
                <a:gridCol w="3466769"/>
              </a:tblGrid>
              <a:tr h="5372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验证项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anchor="ctr" marL="109728" marR="54864" marT="27432" marB="27432">
                    <a:solidFill>
                      <a:srgbClr val="121F3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地名检索正确性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 个地名用例 + 40 条国外别名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全部通过（含修复前错误用例）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思考过程语言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对照，各 9 次调用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英文占比 78% → 0%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中文检索质量（RAG 预研）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个中文问题 Top1 命中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英文模型 4/5，中文模型 5/5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中断保存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 60 字后中断并查库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已保存 166 字符，未丢失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数据库字符集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写入 4 字节 emoji 再读回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成功（utf8mb4）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工具端到端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真实调用天气 / 路线接口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湘潭 28.3℃；湘潭→长沙 48.6km</a:t>
                      </a:r>
                    </a:p>
                  </a:txBody>
                  <a:tcPr anchor="ctr" marL="109728" marR="54864" marT="27432" marB="27432">
                    <a:solidFill>
                      <a:srgbClr val="F4F6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前端工程质量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类型检查 + 生产构建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A2E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均正常通过（exit 0）</a:t>
                      </a:r>
                    </a:p>
                  </a:txBody>
                  <a:tcPr anchor="ctr" marL="109728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工程化实践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76523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版本控制（Git）：建立基线提交，69 个受管文件；.gitignore 隔离密钥、依赖、缓存；.gitattributes 统一换行符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配置管理：敏感配置（数据库密码、API Key）全部走 .env，且 .env 永不入库；仓库只保留 .env.example 模板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协作规范：开工前 pull、收工后 push；按文件划分归属，共享文件改动前先沟通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安全：密码 bcrypt 加盐哈希；密钥零入库；接口严格校验会话归属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2224" y="274320"/>
            <a:ext cx="96679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21F3A"/>
                </a:solidFill>
                <a:latin typeface="微软雅黑"/>
                <a:ea typeface="微软雅黑"/>
                <a:cs typeface="微软雅黑"/>
              </a:rPr>
              <a:t>不足与未来展望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97280"/>
            <a:ext cx="8686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52144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76523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RAG 知识库问答（方案已验证，待落地）：中文向量模型与切块策略已完成选型实测，下一步接入文档上传与检索问答并标注引用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多模态能力（已实测可用）：当前模型原生支持图片理解，可扩展「拍照 / 截图问答」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模型与参数可配置化：模型名目前写死，计划做成界面可选，并暴露「思考强度」参数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2A2E37"/>
                </a:solidFill>
                <a:latin typeface="微软雅黑"/>
                <a:ea typeface="微软雅黑"/>
                <a:cs typeface="微软雅黑"/>
              </a:rPr>
              <a:t>体验优化：移动端适配、对话内搜索、回答导出、组合式出行助手页面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6473952"/>
            <a:ext cx="10765231" cy="1463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AI 智能聊天助手 · 项目答辩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D6BF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F3A"/>
              </a:gs>
              <a:gs pos="100000">
                <a:srgbClr val="1E385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194560"/>
            <a:ext cx="5486400" cy="5486400"/>
          </a:xfrm>
          <a:prstGeom prst="ellipse">
            <a:avLst/>
          </a:prstGeom>
          <a:solidFill>
            <a:srgbClr val="2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solidFill>
            <a:srgbClr val="1E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感谢聆听，恳请各位老师批评指正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7207" y="3611880"/>
            <a:ext cx="1097280" cy="45720"/>
          </a:xfrm>
          <a:prstGeom prst="rect">
            <a:avLst/>
          </a:prstGeom>
          <a:solidFill>
            <a:srgbClr val="4D6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BFD3EA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